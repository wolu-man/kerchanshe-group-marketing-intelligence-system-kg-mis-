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8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34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66344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1234440"/>
            <a:ext cx="914400" cy="9144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" name="Image 0" descr="/home/claude/kgmis/icons/k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190" y="1424354"/>
            <a:ext cx="534572" cy="5345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4231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KG-MIS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0" y="3182112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Kerchanshe Group Marketing Intelligence 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51276" y="3794760"/>
            <a:ext cx="5486400" cy="420624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351276" y="379476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 EDITION  ·  v1.0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4572000"/>
            <a:ext cx="8531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“Transforming market data into actionable intelligence.”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5074920"/>
            <a:ext cx="9262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task-based reference for UAT participants to exercise every KG-MIS module during testing.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E7C4ED-7518-497A-BD72-4F624100217A}"/>
              </a:ext>
            </a:extLst>
          </p:cNvPr>
          <p:cNvSpPr txBox="1"/>
          <p:nvPr/>
        </p:nvSpPr>
        <p:spPr>
          <a:xfrm>
            <a:off x="3447288" y="6077188"/>
            <a:ext cx="7909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Prepared by: Kerchanshe Group IT (Solution Development Team)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9692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helps Kerchanshe Group's Marketing department collect, monitor, analyze, and visualize market and field data for better business decisions.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600200"/>
            <a:ext cx="283464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6002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74720" y="1600200"/>
            <a:ext cx="777240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474720" y="16002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1947672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19476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0" y="1947672"/>
            <a:ext cx="7772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74720" y="19476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snapshot of sales, visits, interviews, and alerts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2331720"/>
            <a:ext cx="2834640" cy="384048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2331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Visits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474720" y="2331720"/>
            <a:ext cx="7772400" cy="384048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74720" y="23317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track visits to retail / wholesale outlets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2715768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27157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474720" y="2715768"/>
            <a:ext cx="7772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74720" y="27157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structured feedback from customers, distributors, retailers, agents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3099816"/>
            <a:ext cx="2834640" cy="384048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099816"/>
            <a:ext cx="283464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Videos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474720" y="3099816"/>
            <a:ext cx="7772400" cy="384048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74720" y="30998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manage field evidence with a validation workflow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" y="3483864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3483864"/>
            <a:ext cx="283464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Surveys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474720" y="3483864"/>
            <a:ext cx="7772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474720" y="34838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dynamic forms and collect responses from field or public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0080" y="3867912"/>
            <a:ext cx="2834640" cy="384048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38679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Pricing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3474720" y="3867912"/>
            <a:ext cx="7772400" cy="384048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474720" y="3867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competitor prices and receive automatic gap alerts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40080" y="4251960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" y="4251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Sales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3474720" y="4251960"/>
            <a:ext cx="7772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474720" y="42519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point-of-sale quantity and revenue data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40080" y="4636008"/>
            <a:ext cx="2834640" cy="384048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40080" y="46360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Performance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3474720" y="4636008"/>
            <a:ext cx="7772400" cy="384048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474720" y="46360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KPI scoring, plan tracking, activity history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640080" y="5020056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40080" y="50200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3474720" y="5020056"/>
            <a:ext cx="7772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474720" y="5020056"/>
            <a:ext cx="777240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insights, charts, and data export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640080" y="5404104"/>
            <a:ext cx="2834640" cy="384048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40080" y="54041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3474720" y="5404104"/>
            <a:ext cx="7772400" cy="384048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3474720" y="5404104"/>
            <a:ext cx="777240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informed about system events via email alerts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640080" y="5788152"/>
            <a:ext cx="2834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40080" y="57881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Centre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3474720" y="5788152"/>
            <a:ext cx="7772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474720" y="5788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roles, master data, notifications, audit trail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56" name="Text 5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ac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Accounts &amp; Logging In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34440" y="10058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3444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/login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62072" y="1005840"/>
            <a:ext cx="1046074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62072" y="1005840"/>
            <a:ext cx="10460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All roles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1444752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pic>
        <p:nvPicPr>
          <p:cNvPr id="10" name="Image 1" descr="/home/claude/kgmis/icons/ste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642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69264" y="16459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Log In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084832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your browser and navigate to the KG-MIS URL provided for UAT.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Enter your Username and Password.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Click Sign in.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36118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success lands you on the Dashboard; failure shows a message explaining what went wrong.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29768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pic>
        <p:nvPicPr>
          <p:cNvPr id="15" name="Image 2" descr="/home/claude/kgmis/icons/inf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39826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42976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for every test account: Password123!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484632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pic>
        <p:nvPicPr>
          <p:cNvPr id="18" name="Image 3" descr="/home/claude/kgmis/icons/inf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94690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48463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out via the sidebar, or the top-bar user menu.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39496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/>
        </p:spPr>
      </p:sp>
      <p:pic>
        <p:nvPicPr>
          <p:cNvPr id="21" name="Image 4" descr="/home/claude/kgmis/icons/inf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495544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5394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uses CUAS SSO; UAT uses local username/password instead.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309360" y="1645920"/>
            <a:ext cx="14173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309360" y="1645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7726680" y="1645920"/>
            <a:ext cx="23317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7726680" y="16459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10058400" y="1645920"/>
            <a:ext cx="173736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10058400" y="1645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09360" y="1993392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309360" y="19933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7726680" y="1993392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7726680" y="19933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10058400" y="1993392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10058400" y="1993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309360" y="2359152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309360" y="23591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tsegaye.n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7726680" y="2359152"/>
            <a:ext cx="23317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7726680" y="23591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10058400" y="2359152"/>
            <a:ext cx="173736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10058400" y="23591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6309360" y="2724912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6309360" y="27249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analyst1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7726680" y="2724912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7726680" y="2724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Analyst</a:t>
            </a:r>
            <a:endParaRPr lang="en-US" sz="1050" dirty="0"/>
          </a:p>
        </p:txBody>
      </p:sp>
      <p:sp>
        <p:nvSpPr>
          <p:cNvPr id="45" name="Shape 38"/>
          <p:cNvSpPr/>
          <p:nvPr/>
        </p:nvSpPr>
        <p:spPr>
          <a:xfrm>
            <a:off x="10058400" y="2724912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10058400" y="2724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6309360" y="3090672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6309360" y="30906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field1</a:t>
            </a:r>
            <a:endParaRPr lang="en-US" sz="1050" dirty="0"/>
          </a:p>
        </p:txBody>
      </p:sp>
      <p:sp>
        <p:nvSpPr>
          <p:cNvPr id="49" name="Shape 42"/>
          <p:cNvSpPr/>
          <p:nvPr/>
        </p:nvSpPr>
        <p:spPr>
          <a:xfrm>
            <a:off x="7726680" y="3090672"/>
            <a:ext cx="23317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7726680" y="30906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10058400" y="3090672"/>
            <a:ext cx="173736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10058400" y="3090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Ababa, Oromia</a:t>
            </a:r>
            <a:endParaRPr lang="en-US" sz="1050" dirty="0"/>
          </a:p>
        </p:txBody>
      </p:sp>
      <p:sp>
        <p:nvSpPr>
          <p:cNvPr id="53" name="Shape 46"/>
          <p:cNvSpPr/>
          <p:nvPr/>
        </p:nvSpPr>
        <p:spPr>
          <a:xfrm>
            <a:off x="6309360" y="3456432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6309360" y="34564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field2</a:t>
            </a:r>
            <a:endParaRPr lang="en-US" sz="1050" dirty="0"/>
          </a:p>
        </p:txBody>
      </p:sp>
      <p:sp>
        <p:nvSpPr>
          <p:cNvPr id="55" name="Shape 48"/>
          <p:cNvSpPr/>
          <p:nvPr/>
        </p:nvSpPr>
        <p:spPr>
          <a:xfrm>
            <a:off x="7726680" y="3456432"/>
            <a:ext cx="2331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7726680" y="34564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</a:t>
            </a:r>
            <a:endParaRPr lang="en-US" sz="1050" dirty="0"/>
          </a:p>
        </p:txBody>
      </p:sp>
      <p:sp>
        <p:nvSpPr>
          <p:cNvPr id="57" name="Shape 50"/>
          <p:cNvSpPr/>
          <p:nvPr/>
        </p:nvSpPr>
        <p:spPr>
          <a:xfrm>
            <a:off x="10058400" y="3456432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10058400" y="3456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Amhara, SNNPR</a:t>
            </a:r>
            <a:endParaRPr lang="en-US" sz="1050" dirty="0"/>
          </a:p>
        </p:txBody>
      </p:sp>
      <p:sp>
        <p:nvSpPr>
          <p:cNvPr id="59" name="Shape 52"/>
          <p:cNvSpPr/>
          <p:nvPr/>
        </p:nvSpPr>
        <p:spPr>
          <a:xfrm>
            <a:off x="6309360" y="3822192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6309360" y="38221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viewer1</a:t>
            </a:r>
            <a:endParaRPr lang="en-US" sz="1050" dirty="0"/>
          </a:p>
        </p:txBody>
      </p:sp>
      <p:sp>
        <p:nvSpPr>
          <p:cNvPr id="61" name="Shape 54"/>
          <p:cNvSpPr/>
          <p:nvPr/>
        </p:nvSpPr>
        <p:spPr>
          <a:xfrm>
            <a:off x="7726680" y="3822192"/>
            <a:ext cx="23317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7726680" y="38221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Viewer</a:t>
            </a:r>
            <a:endParaRPr lang="en-US" sz="1050" dirty="0"/>
          </a:p>
        </p:txBody>
      </p:sp>
      <p:sp>
        <p:nvSpPr>
          <p:cNvPr id="63" name="Shape 56"/>
          <p:cNvSpPr/>
          <p:nvPr/>
        </p:nvSpPr>
        <p:spPr>
          <a:xfrm>
            <a:off x="10058400" y="3822192"/>
            <a:ext cx="173736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64" name="Text 57"/>
          <p:cNvSpPr txBox="1"/>
          <p:nvPr/>
        </p:nvSpPr>
        <p:spPr>
          <a:xfrm>
            <a:off x="10058400" y="38221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50" dirty="0"/>
          </a:p>
        </p:txBody>
      </p:sp>
      <p:sp>
        <p:nvSpPr>
          <p:cNvPr id="65" name="Shape 58"/>
          <p:cNvSpPr/>
          <p:nvPr/>
        </p:nvSpPr>
        <p:spPr>
          <a:xfrm>
            <a:off x="6309360" y="4279392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FDF1DD"/>
          </a:solidFill>
          <a:ln/>
        </p:spPr>
      </p:sp>
      <p:pic>
        <p:nvPicPr>
          <p:cNvPr id="66" name="Image 5" descr="/home/claude/kgmis/icons/wa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434840"/>
            <a:ext cx="274320" cy="274320"/>
          </a:xfrm>
          <a:prstGeom prst="rect">
            <a:avLst/>
          </a:prstGeom>
        </p:spPr>
      </p:pic>
      <p:sp>
        <p:nvSpPr>
          <p:cNvPr id="67" name="Text 59"/>
          <p:cNvSpPr txBox="1"/>
          <p:nvPr/>
        </p:nvSpPr>
        <p:spPr>
          <a:xfrm>
            <a:off x="6903720" y="4325112"/>
            <a:ext cx="47548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region matters:  </a:t>
            </a:r>
            <a:r>
              <a:rPr lang="en-US" sz="1100" dirty="0">
                <a:solidFill>
                  <a:srgbClr val="5C43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Officer only sees data for their assigned region(s). If a record isn't showing for field1/field2, confirm it belongs to their region before flagging a defect.</a:t>
            </a:r>
            <a:endParaRPr lang="en-US" sz="1100" dirty="0"/>
          </a:p>
        </p:txBody>
      </p:sp>
      <p:sp>
        <p:nvSpPr>
          <p:cNvPr id="68" name="Text 6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69" name="Text 61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navi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Navigating KG-MIS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9692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sections and what's visible to each role.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600200"/>
            <a:ext cx="22860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26080" y="1600200"/>
            <a:ext cx="54864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926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12480" y="1600200"/>
            <a:ext cx="28346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1965960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1965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926080" y="1965960"/>
            <a:ext cx="5486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26080" y="19659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Notifications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412480" y="1965960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0" y="1965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roles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2313432"/>
            <a:ext cx="2286000" cy="34747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2313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Intelligence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926080" y="2313432"/>
            <a:ext cx="5486400" cy="34747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926080" y="23134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Visits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412480" y="2313432"/>
            <a:ext cx="2834640" cy="34747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12480" y="23134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Manager, Analyst, Field Officer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" y="266090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26609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Intelligence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926080" y="2660904"/>
            <a:ext cx="5486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926080" y="2660904"/>
            <a:ext cx="54864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/ Photos &amp; Videos / Forms &amp; Surveys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412480" y="2660904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12480" y="26609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roles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0080" y="3008376"/>
            <a:ext cx="2286000" cy="34747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3008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Intelligence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926080" y="3008376"/>
            <a:ext cx="5486400" cy="34747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926080" y="30083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Pricing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412480" y="3008376"/>
            <a:ext cx="2834640" cy="34747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12480" y="30083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Manager, Analyst, Field Officer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40080" y="3355848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0080" y="33558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Intelligence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2926080" y="3355848"/>
            <a:ext cx="5486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926080" y="33558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Sales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412480" y="3355848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12480" y="33558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roles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40080" y="3703320"/>
            <a:ext cx="2286000" cy="34747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40080" y="3703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Intelligence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926080" y="3703320"/>
            <a:ext cx="5486400" cy="34747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926080" y="37033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Performance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412480" y="3703320"/>
            <a:ext cx="2834640" cy="34747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412480" y="3703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Manager, Analyst, Field Officer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40080" y="405079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40080" y="4050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2926080" y="4050792"/>
            <a:ext cx="5486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926080" y="40507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Power BI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8412480" y="4050792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412480" y="40507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Manager, Analyst, Viewer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640080" y="4398264"/>
            <a:ext cx="2286000" cy="34747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40080" y="4398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2926080" y="4398264"/>
            <a:ext cx="5486400" cy="34747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926080" y="4398264"/>
            <a:ext cx="548640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Centre, Planning, Business Groups, Customers, Products, Regions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8412480" y="4398264"/>
            <a:ext cx="2834640" cy="34747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412480" y="43982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only</a:t>
            </a:r>
            <a:endParaRPr lang="en-US" sz="1100" dirty="0"/>
          </a:p>
        </p:txBody>
      </p:sp>
      <p:pic>
        <p:nvPicPr>
          <p:cNvPr id="61" name="Image 1" descr="/home/claude/kgmi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910328"/>
            <a:ext cx="237744" cy="237744"/>
          </a:xfrm>
          <a:prstGeom prst="rect">
            <a:avLst/>
          </a:prstGeom>
        </p:spPr>
      </p:pic>
      <p:sp>
        <p:nvSpPr>
          <p:cNvPr id="62" name="Text 58"/>
          <p:cNvSpPr txBox="1"/>
          <p:nvPr/>
        </p:nvSpPr>
        <p:spPr>
          <a:xfrm>
            <a:off x="969264" y="48920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Page</a:t>
            </a:r>
            <a:endParaRPr lang="en-US" sz="1600" dirty="0"/>
          </a:p>
        </p:txBody>
      </p:sp>
      <p:sp>
        <p:nvSpPr>
          <p:cNvPr id="63" name="Text 59"/>
          <p:cNvSpPr txBox="1"/>
          <p:nvPr/>
        </p:nvSpPr>
        <p:spPr>
          <a:xfrm>
            <a:off x="640080" y="5221224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Notification bell with unread badge, dark-mode toggle, and user menu in the top bar.</a:t>
            </a:r>
            <a:endParaRPr lang="en-US" sz="11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Toast confirmations appear top-right and clear automatically.</a:t>
            </a:r>
            <a:endParaRPr lang="en-US" sz="11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red banner appears if a section fails to load; an access-denied message appears for pages your role can't open.</a:t>
            </a:r>
            <a:endParaRPr lang="en-US" sz="1100" dirty="0"/>
          </a:p>
        </p:txBody>
      </p:sp>
      <p:sp>
        <p:nvSpPr>
          <p:cNvPr id="64" name="Text 6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65" name="Text 61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34440" y="10058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3444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/dashboard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62072" y="1005840"/>
            <a:ext cx="1046074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62072" y="1005840"/>
            <a:ext cx="10460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All roles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4264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screen — a high-level view of all marketing intelligence data.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828800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pic>
        <p:nvPicPr>
          <p:cNvPr id="11" name="Image 1" descr="/home/claude/kgmis/icons/ste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6926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Steps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450592"/>
            <a:ext cx="5394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Log in and land on the Dashboard.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Review the 10 KPI cards, charts, Generated Alerts, and Recent Notifications.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Read the AI Insights panel (rule-based observations, not machine learning).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Click each of the 10 Quick Capture tiles.</a:t>
            </a:r>
            <a:endParaRPr lang="en-US" sz="1300" dirty="0"/>
          </a:p>
        </p:txBody>
      </p:sp>
      <p:pic>
        <p:nvPicPr>
          <p:cNvPr id="14" name="Image 2" descr="/home/claude/kgmis/icons/ver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0299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3854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2450592"/>
            <a:ext cx="5394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10 KPI cards load: Sales, Weekly Sales, Customers, Products, Visits, Interviews, Price Gaps, Availability, KPI Achievement, Form Responses.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Charts render: Customers by Type, Products by Category, Top Officers.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Alerts are ranked High / Medium / Low; each Quick Capture tile opens the right module.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AED1F52-0956-404A-B837-05230FBF5F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27" y="3803170"/>
            <a:ext cx="5870761" cy="277136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9151C98-C7BF-4243-8B61-A2774A3CE8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3854681"/>
            <a:ext cx="5394960" cy="26577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vis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Visits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34440" y="10058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3444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/visits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62072" y="1005840"/>
            <a:ext cx="2796235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62072" y="1005840"/>
            <a:ext cx="27962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Admin, Manager, Analyst, Field Officer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4264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track visits to retail/wholesale outlets — stock levels, competitor presence, and findings.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828800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pic>
        <p:nvPicPr>
          <p:cNvPr id="11" name="Image 1" descr="/home/claude/kgmis/icons/ste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6926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Steps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450592"/>
            <a:ext cx="5394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Click New visit report; complete Outlet, Visit date, Visit type.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Optionally add stock level, competitor presence, findings, notes.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Save, then Submit — this emails the Marketing Manager.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As Manager/Admin: Review, then Approve or Reject (reason required); the author is emailed either way.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Filter by outlet, region, status, date range, business group.</a:t>
            </a:r>
            <a:endParaRPr lang="en-US" sz="1300" dirty="0"/>
          </a:p>
        </p:txBody>
      </p:sp>
      <p:pic>
        <p:nvPicPr>
          <p:cNvPr id="14" name="Image 2" descr="/home/claude/kgmis/icons/ver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0299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3854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2450592"/>
            <a:ext cx="5394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Lifecycle flows Draft → Submitted → Reviewed → Approved/Rejected.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Field Officers can create/edit only their own reports, while Draft.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Field Officers see only their own visits; Managers/Admins see all; Analysts see all read-only.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D6E6801-F7F2-4F9E-916C-0AF5CD0F1C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5176" y="3568745"/>
            <a:ext cx="6420627" cy="30128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intervie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34440" y="10058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3444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/interviews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62072" y="1005840"/>
            <a:ext cx="2253082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62072" y="1005840"/>
            <a:ext cx="22530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All roles (Viewer: read-only)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4264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structured interviews with customers, distributors, retailers, and agents.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828800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pic>
        <p:nvPicPr>
          <p:cNvPr id="11" name="Image 1" descr="/home/claude/kgmis/icons/ste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6926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Steps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450592"/>
            <a:ext cx="5394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Click New interview; complete Respondent name/type, Interview date, Region.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Optionally add satisfaction score (1–5), Q&amp;A pairs, feedback, photo/video.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Save, then Submit → Review → Approve/Reject (same flow as Market Visits).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Open a record's Detail view and check the sentiment badge.</a:t>
            </a:r>
            <a:endParaRPr lang="en-US" sz="1300" dirty="0"/>
          </a:p>
        </p:txBody>
      </p:sp>
      <p:pic>
        <p:nvPicPr>
          <p:cNvPr id="14" name="Image 2" descr="/home/claude/kgmis/icons/ver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0299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3854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2450592"/>
            <a:ext cx="5394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Sentiment auto-sets from score: 1–2 Negative, 3 Neutral, 4–5 Positive.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GPS location is captured automatically if the browser allows it.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Viewer role can view but not create/edit records.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4454654-E4CE-4A87-9391-528D78FF77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2641" y="3570243"/>
            <a:ext cx="6117336" cy="28214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med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 &amp; Videos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34440" y="10058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3444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/multimedia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62072" y="1005840"/>
            <a:ext cx="2675534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62072" y="1005840"/>
            <a:ext cx="26755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All roles (Validate: Admin, Manager)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4264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view, and manage field photos, videos, and audio recordings.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828800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pic>
        <p:nvPicPr>
          <p:cNvPr id="11" name="Image 1" descr="/home/claude/kgmis/icons/ste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6926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Steps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450592"/>
            <a:ext cx="5394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Click Upload; choose a file — media type is detected automatically.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Set Capture date; optionally link to a Market Visit/Interview, tag Region/Outlet/Notes.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Save, then as Admin/Manager test Validate and Reject.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Add a transcription for video/audio; as uploader, test Delete.</a:t>
            </a:r>
            <a:endParaRPr lang="en-US" sz="1300" dirty="0"/>
          </a:p>
        </p:txBody>
      </p:sp>
      <p:pic>
        <p:nvPicPr>
          <p:cNvPr id="14" name="Image 2" descr="/home/claude/kgmis/icons/ver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0299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3854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2450592"/>
            <a:ext cx="5394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Tiles show a type badge (Photo/Video/Audio) and validation status.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Only Admin/Manager can validate or reject.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Only the uploader can delete their own item.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3452880-EFB2-41C5-B8FD-D1055EAABE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4023" y="3349098"/>
            <a:ext cx="6644363" cy="3131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fo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&amp; Surveys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34440" y="10058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3444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/forms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62072" y="1005840"/>
            <a:ext cx="321868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62072" y="100584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Build: Admin/Mgr/Analyst · Respond: all roles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4264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module — build dynamic multi-page forms, publish them, collect responses, and analyze results.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828800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1993392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21214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 For Form Builders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24688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New form → enter Title/Description.</a:t>
            </a:r>
            <a:endParaRPr lang="en-US" sz="115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Add fields from the palette — 30+ field types (text, choice, media, location, logic).</a:t>
            </a:r>
            <a:endParaRPr lang="en-US" sz="115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Add logic: branching, display conditions, calculated fields, scoring.</a:t>
            </a:r>
            <a:endParaRPr lang="en-US" sz="115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Settings: access mode, response limits, GDPR consent, branding.</a:t>
            </a:r>
            <a:endParaRPr lang="en-US" sz="115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Save = draft version. Publish = goes live (separate step).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" y="49834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68680" y="4983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148840" y="49834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148840" y="49834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0" y="4983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657600" y="4983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53583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Autosaves every few seconds — Publish is a separate, deliberate step.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72200" y="1993392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0" y="21214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 For Respondents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0" y="24688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Under Open forms, find the target form and click Fill in.</a:t>
            </a:r>
            <a:endParaRPr lang="en-US" sz="115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Complete required fields (and consent, if required).</a:t>
            </a:r>
            <a:endParaRPr lang="en-US" sz="115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Optionally Save as draft — resume link valid 7 days.</a:t>
            </a:r>
            <a:endParaRPr lang="en-US" sz="115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Click Submit.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400800" y="4434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Confirmation screen / branded thank-you appears.</a:t>
            </a:r>
            <a:endParaRPr lang="en-US" sz="115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Responses tab, anomaly flags, and Report tab (export to Excel/PDF) work for reviewers.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D367C6-01EA-427D-85ED-E1B5CCD88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2" y="0"/>
            <a:ext cx="7596208" cy="3564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CE6FD5-A020-4651-8678-CACA963E2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264" y="3257578"/>
            <a:ext cx="7741714" cy="3600422"/>
          </a:xfrm>
          <a:prstGeom prst="rect">
            <a:avLst/>
          </a:prstGeom>
        </p:spPr>
      </p:pic>
      <p:sp>
        <p:nvSpPr>
          <p:cNvPr id="6" name="Text 9">
            <a:extLst>
              <a:ext uri="{FF2B5EF4-FFF2-40B4-BE49-F238E27FC236}">
                <a16:creationId xmlns:a16="http://schemas.microsoft.com/office/drawing/2014/main" id="{61C2DC5C-02A1-4EB2-AA13-A9B450DF6F44}"/>
              </a:ext>
            </a:extLst>
          </p:cNvPr>
          <p:cNvSpPr txBox="1"/>
          <p:nvPr/>
        </p:nvSpPr>
        <p:spPr>
          <a:xfrm rot="19060624">
            <a:off x="3301162" y="579757"/>
            <a:ext cx="2309527" cy="488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 For Form Builders</a:t>
            </a:r>
            <a:endParaRPr lang="en-US" sz="1500" dirty="0"/>
          </a:p>
        </p:txBody>
      </p:sp>
      <p:sp>
        <p:nvSpPr>
          <p:cNvPr id="7" name="Text 19">
            <a:extLst>
              <a:ext uri="{FF2B5EF4-FFF2-40B4-BE49-F238E27FC236}">
                <a16:creationId xmlns:a16="http://schemas.microsoft.com/office/drawing/2014/main" id="{26284565-CC2E-48A3-9342-C26D34D68507}"/>
              </a:ext>
            </a:extLst>
          </p:cNvPr>
          <p:cNvSpPr txBox="1"/>
          <p:nvPr/>
        </p:nvSpPr>
        <p:spPr>
          <a:xfrm rot="19402622">
            <a:off x="7350712" y="4674702"/>
            <a:ext cx="22815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 For Respondents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648662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pric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Pricing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34440" y="10058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3444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/pricing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62072" y="1005840"/>
            <a:ext cx="2796235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62072" y="1005840"/>
            <a:ext cx="27962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Admin, Manager, Analyst, Field Officer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4264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competitor prices, compare to Kerchanshe's own, and get alerts when the gap is significant.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828800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pic>
        <p:nvPicPr>
          <p:cNvPr id="11" name="Image 1" descr="/home/claude/kgmis/icons/ste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6926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Steps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450592"/>
            <a:ext cx="5394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On Price records, click Record price; complete Product, Competitor, Price, Region.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Save; open Compare to view Kerchanshe's price vs. every competitor entry.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Open Alerts; Resolve or Dismiss a generated alert.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(Admin) Open Thresholds and review per-category gap %.</a:t>
            </a:r>
            <a:endParaRPr lang="en-US" sz="1300" dirty="0"/>
          </a:p>
        </p:txBody>
      </p:sp>
      <p:pic>
        <p:nvPicPr>
          <p:cNvPr id="14" name="Image 2" descr="/home/claude/kgmis/icons/ver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0299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3854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2450592"/>
            <a:ext cx="5394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Default thresholds: Buna Pen 20%,Buna Plate 15%, Buna Paints 12%, Coffee 15% — meeting/exceeding one auto-creates an Active alert and emails Manager + Analyst.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Field Officers see/record pricing only for assigned regions; Managers/Admins see all; Analysts have read access to all.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3FD4CD-FA02-4E4A-A48B-9198AD2F72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2945" y="3650033"/>
            <a:ext cx="6561607" cy="30926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Sales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34440" y="10058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3444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/weekly-sales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62072" y="1005840"/>
            <a:ext cx="2253082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62072" y="1005840"/>
            <a:ext cx="22530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All roles (Viewer: read-only)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4264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weekly point-of-sale data — quantity sold and revenue — per product and outlet.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828800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pic>
        <p:nvPicPr>
          <p:cNvPr id="11" name="Image 1" descr="/home/claude/kgmis/icons/ste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6926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Steps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450592"/>
            <a:ext cx="5394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Click Record weekly sale.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Complete Week ending (a Sunday), Business group, Customer, Product, Region, Outlet, Quantity sold.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Confirm Unit price auto-fills once Product + Customer are chosen (editable).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Optionally add Notes; Save.</a:t>
            </a:r>
            <a:endParaRPr lang="en-US" sz="1300" dirty="0"/>
          </a:p>
        </p:txBody>
      </p:sp>
      <p:pic>
        <p:nvPicPr>
          <p:cNvPr id="14" name="Image 2" descr="/home/claude/kgmis/icons/ver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0299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3854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2450592"/>
            <a:ext cx="5394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Revenue = Quantity sold × Unit price, calculated automatically.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Only one entry allowed per week / product / outlet combination.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Summary stats (Entries, Quantity sold, Revenue) update after saving.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31EFA5-99D6-436E-9A73-F21E9C5A5C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4156" y="3514296"/>
            <a:ext cx="7070809" cy="33437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 Performance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34440" y="1005840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34440" y="100584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/officer/performance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374136" y="1005840"/>
            <a:ext cx="2796235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374136" y="1005840"/>
            <a:ext cx="27962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Admin, Manager, Analyst, Field Officer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4264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self-service performance dashboard — each user sees their own activity and scoring.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828800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pic>
        <p:nvPicPr>
          <p:cNvPr id="11" name="Image 1" descr="/home/claude/kgmis/icons/ste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6926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Steps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450592"/>
            <a:ext cx="5394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My Performance and review the overall score ring.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Check the Productivity / Completion / Quality / Timeliness breakdown and monthly trend chart.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Open My Plans — assigned plans with frequency, status, progress bar.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Open My Results (KPI target/actual/score) and Activity Log; try the date range filter.</a:t>
            </a:r>
            <a:endParaRPr lang="en-US" sz="1300" dirty="0"/>
          </a:p>
        </p:txBody>
      </p:sp>
      <p:pic>
        <p:nvPicPr>
          <p:cNvPr id="14" name="Image 2" descr="/home/claude/kgmis/icons/ver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0299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3854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2450592"/>
            <a:ext cx="5394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Each tab shows accurate, user-specific data (no cross-user leakage).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Date range filter narrows results on every tab.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DDAC2DB-B7BB-4924-B112-2F3F2DBB24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4745" y="3127159"/>
            <a:ext cx="6546133" cy="33375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Analytics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34440" y="10058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3444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/reports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62072" y="1005840"/>
            <a:ext cx="2373782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62072" y="1005840"/>
            <a:ext cx="237378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Admin, Manager, Analyst, Viewer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4264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report tabs covering every part of the system, plus data export.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828800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pic>
        <p:nvPicPr>
          <p:cNvPr id="11" name="Image 1" descr="/home/claude/kgmis/icons/ste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6926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Steps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450592"/>
            <a:ext cx="5394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a sample of tabs: AI Insights, Sales, Customers, Products, Market Visits, Price Comparison, Interviews, Weekly Sales, KPI Performance, Forms, Availability, Power BI.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Apply date range, region, and business group filters where offered.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Click Export and download one of 8 data types (visits, interviews, multimedia, sales, competitor intel, customers, products, KPI results).</a:t>
            </a:r>
            <a:endParaRPr lang="en-US" sz="1300" dirty="0"/>
          </a:p>
        </p:txBody>
      </p:sp>
      <p:pic>
        <p:nvPicPr>
          <p:cNvPr id="14" name="Image 2" descr="/home/claude/kgmis/icons/ver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0299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3854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2450592"/>
            <a:ext cx="5394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Each tab loads its expected charts/tables and updates with filters.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Exported Excel file matches the applied filters.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76072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DF1DD"/>
          </a:solidFill>
          <a:ln/>
        </p:spPr>
      </p:sp>
      <p:pic>
        <p:nvPicPr>
          <p:cNvPr id="18" name="Image 3" descr="/home/claude/kgmis/icons/wa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88416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5760720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 UAT: the dashboard catalogue and role assignment are real, but opening a dashboard shows a placeholder rather than a live embed. This is expected, not a defect.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6C6976C-A5B0-4D6B-BD41-2F08776208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7220" y="2992879"/>
            <a:ext cx="5944486" cy="27924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34440" y="1005840"/>
            <a:ext cx="1497787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34440" y="1005840"/>
            <a:ext cx="14977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/notifications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96819" y="1005840"/>
            <a:ext cx="1046074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96819" y="1005840"/>
            <a:ext cx="10460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All roles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4264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notification history and delivery status.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828800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pic>
        <p:nvPicPr>
          <p:cNvPr id="11" name="Image 1" descr="/home/claude/kgmis/icons/ste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6926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Steps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450592"/>
            <a:ext cx="5394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Check the Unread and All tabs.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Mark a single notification as read; then click Mark all read.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 the Event filter — 30+ event types across visits, interviews, forms, pricing, admin.</a:t>
            </a:r>
            <a:endParaRPr lang="en-US" sz="1300" dirty="0"/>
          </a:p>
        </p:txBody>
      </p:sp>
      <p:pic>
        <p:nvPicPr>
          <p:cNvPr id="14" name="Image 2" descr="/home/claude/kgmis/icons/ver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0299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38544" y="2011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2450592"/>
            <a:ext cx="5394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Unread count badge updates as items are read.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Delivery status shows: Sent (green), Failed (red), Retried (neutral).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76072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DF1DD"/>
          </a:solidFill>
          <a:ln/>
        </p:spPr>
      </p:sp>
      <p:pic>
        <p:nvPicPr>
          <p:cNvPr id="18" name="Image 3" descr="/home/claude/kgmis/icons/wa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88416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5760720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Email is dispatched in this build (SMS/WhatsApp/Push/In-App are options but not sent). In UAT, email delivery itself is simulated.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07D29-D67C-452A-9E87-77A7133DC1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6842" y="3005060"/>
            <a:ext cx="6039995" cy="28562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14.1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Centre — Core Administration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34440" y="10058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3444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62072" y="1005840"/>
            <a:ext cx="1589227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62072" y="1005840"/>
            <a:ext cx="15892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Administrator only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4264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tabs for managing users, roles, notifications, and scheduling.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828800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011680"/>
            <a:ext cx="237744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017520" y="2011680"/>
            <a:ext cx="82296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017520" y="2011680"/>
            <a:ext cx="5869028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2395728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23957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Roles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017520" y="2395728"/>
            <a:ext cx="8229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017520" y="2395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users; create/edit; change role inline; activate/deactivate; assign/remove regions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2926080"/>
            <a:ext cx="2377440" cy="53035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29260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Mapping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017520" y="2926080"/>
            <a:ext cx="8229600" cy="53035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017520" y="29260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CUAS SSO claims to internal roles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3456432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564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017520" y="3456432"/>
            <a:ext cx="8229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017520" y="34564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rules pairing a trigger event, channel, and role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" y="3986784"/>
            <a:ext cx="2377440" cy="53035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3986784"/>
            <a:ext cx="237744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017520" y="3986784"/>
            <a:ext cx="8229600" cy="53035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017520" y="39867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Power BI report delivery schedules (cron format)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0080" y="4517136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4517136"/>
            <a:ext cx="237744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017520" y="4517136"/>
            <a:ext cx="8229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017520" y="4517136"/>
            <a:ext cx="822960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full audit trail; export to Excel, CSV, or PDF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31520" y="5655564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DF1DD"/>
          </a:solidFill>
          <a:ln/>
        </p:spPr>
      </p:sp>
      <p:pic>
        <p:nvPicPr>
          <p:cNvPr id="36" name="Image 1" descr="/home/claude/kgmis/icons/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92" y="5779008"/>
            <a:ext cx="256032" cy="256032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B309DC8-8655-4937-96B7-704434754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195" y="2947797"/>
            <a:ext cx="5261550" cy="2766631"/>
          </a:xfrm>
          <a:prstGeom prst="rect">
            <a:avLst/>
          </a:prstGeom>
        </p:spPr>
      </p:pic>
      <p:sp>
        <p:nvSpPr>
          <p:cNvPr id="42" name="Text 33">
            <a:extLst>
              <a:ext uri="{FF2B5EF4-FFF2-40B4-BE49-F238E27FC236}">
                <a16:creationId xmlns:a16="http://schemas.microsoft.com/office/drawing/2014/main" id="{1EBD7AAB-CD69-47A9-A348-6A11F0B66ED2}"/>
              </a:ext>
            </a:extLst>
          </p:cNvPr>
          <p:cNvSpPr txBox="1"/>
          <p:nvPr/>
        </p:nvSpPr>
        <p:spPr>
          <a:xfrm>
            <a:off x="1173096" y="5677281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implemented: report schedules are saved and listed, but nothing currently executes them automatically in this build.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Centre — Planning &amp; Performance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34440" y="10058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3444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/admin/kpi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62072" y="1005840"/>
            <a:ext cx="1589227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62072" y="1005840"/>
            <a:ext cx="15892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Administrator only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4264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tabs for defining KPIs and managing performance plans.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828800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011680"/>
            <a:ext cx="237744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2011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017520" y="2011680"/>
            <a:ext cx="82296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017520" y="20116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2395728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23957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017520" y="2395728"/>
            <a:ext cx="8229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017520" y="23957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summary metrics plus trend, plan-status, and deadline views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2926080"/>
            <a:ext cx="2377440" cy="53035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29260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017520" y="2926080"/>
            <a:ext cx="8229600" cy="53035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017520" y="29260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Create/manage plans in a parent/child hierarchy (Annual → Quarterly → Monthly → Weekly)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3456432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564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017520" y="3456432"/>
            <a:ext cx="8229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017520" y="34564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activities under a specific plan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" y="3986784"/>
            <a:ext cx="2377440" cy="53035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3986784"/>
            <a:ext cx="237744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Definitions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017520" y="3986784"/>
            <a:ext cx="8229600" cy="530352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017520" y="39867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KPI code, category, unit, target, weight, frequency, thresholds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0080" y="4517136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4517136"/>
            <a:ext cx="237744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017520" y="4517136"/>
            <a:ext cx="8229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017520" y="4517136"/>
            <a:ext cx="8229600" cy="530352"/>
          </a:xfrm>
          <a:prstGeom prst="rect">
            <a:avLst/>
          </a:prstGeom>
          <a:noFill/>
          <a:ln/>
        </p:spPr>
        <p:txBody>
          <a:bodyPr wrap="square" lIns="0" tIns="1524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officers ranked by score, with a full breakdown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E542B3E-5F0F-4598-833A-16F87E310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979" y="4389120"/>
            <a:ext cx="5004921" cy="23197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14.3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Centre — Master Data Pages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1234440" y="10058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3444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/admin/*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62072" y="1005840"/>
            <a:ext cx="1589227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62072" y="1005840"/>
            <a:ext cx="15892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Administrator only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1444752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169164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1874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189280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Groups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240487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and delete business groups (code, name, description).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5112" y="169164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26280" y="1874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5262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010912" y="189280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26280" y="240487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customers, type, contact details, region/outlet, star rating.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10144" y="169164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11312" y="1874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11312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695944" y="189280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211312" y="240487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products, categories, and per-customer-type pricing.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" y="374904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1248" y="3931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4124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325880" y="395020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41248" y="446227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card view of products; upload a photo per product.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325112" y="374904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3931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52628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010912" y="395020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&amp; Outlets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4526280" y="446227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geographic hierarchy — regions and outlets within them.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010144" y="374904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211312" y="3931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211312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8695944" y="395020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Config.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8211312" y="446227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parent/child relationships (e.g. Region → Outlet) for cascading dropdowns.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ro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Permissions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9692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has five roles. Confirm each sees only the access level listed below.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600200"/>
            <a:ext cx="26060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600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600200"/>
            <a:ext cx="14173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46120" y="1600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1600200"/>
            <a:ext cx="14173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63440" y="1600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80760" y="1600200"/>
            <a:ext cx="14173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080760" y="1600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98080" y="1600200"/>
            <a:ext cx="19659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98080" y="1600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464040" y="1600200"/>
            <a:ext cx="13258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464040" y="1600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1965960"/>
            <a:ext cx="2606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246120" y="196596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4612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663440" y="196596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6344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080760" y="196596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8076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498080" y="1965960"/>
            <a:ext cx="1965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98080" y="1965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464040" y="196596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19659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40080" y="2331720"/>
            <a:ext cx="260604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Visits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246120" y="2331720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24612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663440" y="2331720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66344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080760" y="2331720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08076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7498080" y="2331720"/>
            <a:ext cx="196596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498080" y="2331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Create/own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9464040" y="2331720"/>
            <a:ext cx="132588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464040" y="2331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40080" y="2697480"/>
            <a:ext cx="2606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4008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3246120" y="269748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246120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663440" y="269748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663440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080760" y="269748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080760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7498080" y="2697480"/>
            <a:ext cx="1965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498080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Create/own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9464040" y="269748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464040" y="2697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640080" y="3063240"/>
            <a:ext cx="260604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40080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Videos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3246120" y="3063240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3246120" y="3063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4663440" y="3063240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663440" y="3063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6080760" y="3063240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6080760" y="3063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7498080" y="3063240"/>
            <a:ext cx="196596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7498080" y="3063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Upload/own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9464040" y="3063240"/>
            <a:ext cx="132588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9464040" y="3063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</p:txBody>
      </p:sp>
      <p:sp>
        <p:nvSpPr>
          <p:cNvPr id="67" name="Shape 64"/>
          <p:cNvSpPr/>
          <p:nvPr/>
        </p:nvSpPr>
        <p:spPr>
          <a:xfrm>
            <a:off x="640080" y="3429000"/>
            <a:ext cx="2606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640080" y="3429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Surveys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3246120" y="342900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324612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71" name="Shape 68"/>
          <p:cNvSpPr/>
          <p:nvPr/>
        </p:nvSpPr>
        <p:spPr>
          <a:xfrm>
            <a:off x="4663440" y="342900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466344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73" name="Shape 70"/>
          <p:cNvSpPr/>
          <p:nvPr/>
        </p:nvSpPr>
        <p:spPr>
          <a:xfrm>
            <a:off x="6080760" y="342900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608076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75" name="Shape 72"/>
          <p:cNvSpPr/>
          <p:nvPr/>
        </p:nvSpPr>
        <p:spPr>
          <a:xfrm>
            <a:off x="7498080" y="3429000"/>
            <a:ext cx="1965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7498080" y="3429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050" dirty="0"/>
          </a:p>
        </p:txBody>
      </p:sp>
      <p:sp>
        <p:nvSpPr>
          <p:cNvPr id="77" name="Shape 74"/>
          <p:cNvSpPr/>
          <p:nvPr/>
        </p:nvSpPr>
        <p:spPr>
          <a:xfrm>
            <a:off x="9464040" y="342900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9464040" y="3429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</p:txBody>
      </p:sp>
      <p:sp>
        <p:nvSpPr>
          <p:cNvPr id="79" name="Shape 76"/>
          <p:cNvSpPr/>
          <p:nvPr/>
        </p:nvSpPr>
        <p:spPr>
          <a:xfrm>
            <a:off x="640080" y="3794760"/>
            <a:ext cx="260604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64008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Pricing</a:t>
            </a:r>
            <a:endParaRPr lang="en-US" sz="1050" dirty="0"/>
          </a:p>
        </p:txBody>
      </p:sp>
      <p:sp>
        <p:nvSpPr>
          <p:cNvPr id="81" name="Shape 78"/>
          <p:cNvSpPr/>
          <p:nvPr/>
        </p:nvSpPr>
        <p:spPr>
          <a:xfrm>
            <a:off x="3246120" y="3794760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3246120" y="3794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83" name="Shape 80"/>
          <p:cNvSpPr/>
          <p:nvPr/>
        </p:nvSpPr>
        <p:spPr>
          <a:xfrm>
            <a:off x="4663440" y="3794760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4663440" y="3794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85" name="Shape 82"/>
          <p:cNvSpPr/>
          <p:nvPr/>
        </p:nvSpPr>
        <p:spPr>
          <a:xfrm>
            <a:off x="6080760" y="3794760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6080760" y="3794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</p:txBody>
      </p:sp>
      <p:sp>
        <p:nvSpPr>
          <p:cNvPr id="87" name="Shape 84"/>
          <p:cNvSpPr/>
          <p:nvPr/>
        </p:nvSpPr>
        <p:spPr>
          <a:xfrm>
            <a:off x="7498080" y="3794760"/>
            <a:ext cx="196596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7498080" y="3794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Create/own region</a:t>
            </a:r>
            <a:endParaRPr lang="en-US" sz="1050" dirty="0"/>
          </a:p>
        </p:txBody>
      </p:sp>
      <p:sp>
        <p:nvSpPr>
          <p:cNvPr id="89" name="Shape 86"/>
          <p:cNvSpPr/>
          <p:nvPr/>
        </p:nvSpPr>
        <p:spPr>
          <a:xfrm>
            <a:off x="9464040" y="3794760"/>
            <a:ext cx="132588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946404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91" name="Shape 88"/>
          <p:cNvSpPr/>
          <p:nvPr/>
        </p:nvSpPr>
        <p:spPr>
          <a:xfrm>
            <a:off x="640080" y="4160520"/>
            <a:ext cx="2606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640080" y="4160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Sales</a:t>
            </a:r>
            <a:endParaRPr lang="en-US" sz="1050" dirty="0"/>
          </a:p>
        </p:txBody>
      </p:sp>
      <p:sp>
        <p:nvSpPr>
          <p:cNvPr id="93" name="Shape 90"/>
          <p:cNvSpPr/>
          <p:nvPr/>
        </p:nvSpPr>
        <p:spPr>
          <a:xfrm>
            <a:off x="3246120" y="416052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3246120" y="4160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95" name="Shape 92"/>
          <p:cNvSpPr/>
          <p:nvPr/>
        </p:nvSpPr>
        <p:spPr>
          <a:xfrm>
            <a:off x="4663440" y="416052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4663440" y="4160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97" name="Shape 94"/>
          <p:cNvSpPr/>
          <p:nvPr/>
        </p:nvSpPr>
        <p:spPr>
          <a:xfrm>
            <a:off x="6080760" y="416052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6080760" y="4160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</p:txBody>
      </p:sp>
      <p:sp>
        <p:nvSpPr>
          <p:cNvPr id="99" name="Shape 96"/>
          <p:cNvSpPr/>
          <p:nvPr/>
        </p:nvSpPr>
        <p:spPr>
          <a:xfrm>
            <a:off x="7498080" y="4160520"/>
            <a:ext cx="1965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7498080" y="4160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Create/own</a:t>
            </a:r>
            <a:endParaRPr lang="en-US" sz="1050" dirty="0"/>
          </a:p>
        </p:txBody>
      </p:sp>
      <p:sp>
        <p:nvSpPr>
          <p:cNvPr id="101" name="Shape 98"/>
          <p:cNvSpPr/>
          <p:nvPr/>
        </p:nvSpPr>
        <p:spPr>
          <a:xfrm>
            <a:off x="9464040" y="416052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9464040" y="4160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</p:txBody>
      </p:sp>
      <p:sp>
        <p:nvSpPr>
          <p:cNvPr id="103" name="Shape 100"/>
          <p:cNvSpPr/>
          <p:nvPr/>
        </p:nvSpPr>
        <p:spPr>
          <a:xfrm>
            <a:off x="640080" y="4526280"/>
            <a:ext cx="260604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640080" y="4526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Performance</a:t>
            </a:r>
            <a:endParaRPr lang="en-US" sz="1050" dirty="0"/>
          </a:p>
        </p:txBody>
      </p:sp>
      <p:sp>
        <p:nvSpPr>
          <p:cNvPr id="105" name="Shape 102"/>
          <p:cNvSpPr/>
          <p:nvPr/>
        </p:nvSpPr>
        <p:spPr>
          <a:xfrm>
            <a:off x="3246120" y="4526280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3246120" y="4526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+ all</a:t>
            </a:r>
            <a:endParaRPr lang="en-US" sz="1050" dirty="0"/>
          </a:p>
        </p:txBody>
      </p:sp>
      <p:sp>
        <p:nvSpPr>
          <p:cNvPr id="107" name="Shape 104"/>
          <p:cNvSpPr/>
          <p:nvPr/>
        </p:nvSpPr>
        <p:spPr>
          <a:xfrm>
            <a:off x="4663440" y="4526280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4663440" y="4526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+ all</a:t>
            </a:r>
            <a:endParaRPr lang="en-US" sz="1050" dirty="0"/>
          </a:p>
        </p:txBody>
      </p:sp>
      <p:sp>
        <p:nvSpPr>
          <p:cNvPr id="109" name="Shape 106"/>
          <p:cNvSpPr/>
          <p:nvPr/>
        </p:nvSpPr>
        <p:spPr>
          <a:xfrm>
            <a:off x="6080760" y="4526280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10" name="Text 107"/>
          <p:cNvSpPr txBox="1"/>
          <p:nvPr/>
        </p:nvSpPr>
        <p:spPr>
          <a:xfrm>
            <a:off x="6080760" y="4526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</a:t>
            </a:r>
            <a:endParaRPr lang="en-US" sz="1050" dirty="0"/>
          </a:p>
        </p:txBody>
      </p:sp>
      <p:sp>
        <p:nvSpPr>
          <p:cNvPr id="111" name="Shape 108"/>
          <p:cNvSpPr/>
          <p:nvPr/>
        </p:nvSpPr>
        <p:spPr>
          <a:xfrm>
            <a:off x="7498080" y="4526280"/>
            <a:ext cx="196596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7498080" y="4526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</a:t>
            </a:r>
            <a:endParaRPr lang="en-US" sz="1050" dirty="0"/>
          </a:p>
        </p:txBody>
      </p:sp>
      <p:sp>
        <p:nvSpPr>
          <p:cNvPr id="113" name="Shape 110"/>
          <p:cNvSpPr/>
          <p:nvPr/>
        </p:nvSpPr>
        <p:spPr>
          <a:xfrm>
            <a:off x="9464040" y="4526280"/>
            <a:ext cx="132588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14" name="Text 111"/>
          <p:cNvSpPr txBox="1"/>
          <p:nvPr/>
        </p:nvSpPr>
        <p:spPr>
          <a:xfrm>
            <a:off x="9464040" y="45262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15" name="Shape 112"/>
          <p:cNvSpPr/>
          <p:nvPr/>
        </p:nvSpPr>
        <p:spPr>
          <a:xfrm>
            <a:off x="640080" y="4892040"/>
            <a:ext cx="2606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16" name="Text 113"/>
          <p:cNvSpPr txBox="1"/>
          <p:nvPr/>
        </p:nvSpPr>
        <p:spPr>
          <a:xfrm>
            <a:off x="640080" y="4892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  <p:sp>
        <p:nvSpPr>
          <p:cNvPr id="117" name="Shape 114"/>
          <p:cNvSpPr/>
          <p:nvPr/>
        </p:nvSpPr>
        <p:spPr>
          <a:xfrm>
            <a:off x="3246120" y="489204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3246120" y="4892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119" name="Shape 116"/>
          <p:cNvSpPr/>
          <p:nvPr/>
        </p:nvSpPr>
        <p:spPr>
          <a:xfrm>
            <a:off x="4663440" y="489204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20" name="Text 117"/>
          <p:cNvSpPr txBox="1"/>
          <p:nvPr/>
        </p:nvSpPr>
        <p:spPr>
          <a:xfrm>
            <a:off x="4663440" y="4892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121" name="Shape 118"/>
          <p:cNvSpPr/>
          <p:nvPr/>
        </p:nvSpPr>
        <p:spPr>
          <a:xfrm>
            <a:off x="6080760" y="489204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22" name="Text 119"/>
          <p:cNvSpPr txBox="1"/>
          <p:nvPr/>
        </p:nvSpPr>
        <p:spPr>
          <a:xfrm>
            <a:off x="6080760" y="4892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123" name="Shape 120"/>
          <p:cNvSpPr/>
          <p:nvPr/>
        </p:nvSpPr>
        <p:spPr>
          <a:xfrm>
            <a:off x="7498080" y="4892040"/>
            <a:ext cx="19659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24" name="Text 121"/>
          <p:cNvSpPr txBox="1"/>
          <p:nvPr/>
        </p:nvSpPr>
        <p:spPr>
          <a:xfrm>
            <a:off x="7498080" y="4892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25" name="Shape 122"/>
          <p:cNvSpPr/>
          <p:nvPr/>
        </p:nvSpPr>
        <p:spPr>
          <a:xfrm>
            <a:off x="9464040" y="489204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26" name="Text 123"/>
          <p:cNvSpPr txBox="1"/>
          <p:nvPr/>
        </p:nvSpPr>
        <p:spPr>
          <a:xfrm>
            <a:off x="9464040" y="48920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050" dirty="0"/>
          </a:p>
        </p:txBody>
      </p:sp>
      <p:sp>
        <p:nvSpPr>
          <p:cNvPr id="127" name="Shape 124"/>
          <p:cNvSpPr/>
          <p:nvPr/>
        </p:nvSpPr>
        <p:spPr>
          <a:xfrm>
            <a:off x="640080" y="5257800"/>
            <a:ext cx="260604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28" name="Text 125"/>
          <p:cNvSpPr txBox="1"/>
          <p:nvPr/>
        </p:nvSpPr>
        <p:spPr>
          <a:xfrm>
            <a:off x="640080" y="5257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Centre &amp; master data</a:t>
            </a:r>
            <a:endParaRPr lang="en-US" sz="1050" dirty="0"/>
          </a:p>
        </p:txBody>
      </p:sp>
      <p:sp>
        <p:nvSpPr>
          <p:cNvPr id="129" name="Shape 126"/>
          <p:cNvSpPr/>
          <p:nvPr/>
        </p:nvSpPr>
        <p:spPr>
          <a:xfrm>
            <a:off x="3246120" y="5257800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30" name="Text 127"/>
          <p:cNvSpPr txBox="1"/>
          <p:nvPr/>
        </p:nvSpPr>
        <p:spPr>
          <a:xfrm>
            <a:off x="3246120" y="5257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131" name="Shape 128"/>
          <p:cNvSpPr/>
          <p:nvPr/>
        </p:nvSpPr>
        <p:spPr>
          <a:xfrm>
            <a:off x="4663440" y="5257800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32" name="Text 129"/>
          <p:cNvSpPr txBox="1"/>
          <p:nvPr/>
        </p:nvSpPr>
        <p:spPr>
          <a:xfrm>
            <a:off x="4663440" y="5257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33" name="Shape 130"/>
          <p:cNvSpPr/>
          <p:nvPr/>
        </p:nvSpPr>
        <p:spPr>
          <a:xfrm>
            <a:off x="6080760" y="5257800"/>
            <a:ext cx="141732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34" name="Text 131"/>
          <p:cNvSpPr txBox="1"/>
          <p:nvPr/>
        </p:nvSpPr>
        <p:spPr>
          <a:xfrm>
            <a:off x="6080760" y="5257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35" name="Shape 132"/>
          <p:cNvSpPr/>
          <p:nvPr/>
        </p:nvSpPr>
        <p:spPr>
          <a:xfrm>
            <a:off x="7498080" y="5257800"/>
            <a:ext cx="196596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36" name="Text 133"/>
          <p:cNvSpPr txBox="1"/>
          <p:nvPr/>
        </p:nvSpPr>
        <p:spPr>
          <a:xfrm>
            <a:off x="7498080" y="5257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37" name="Shape 134"/>
          <p:cNvSpPr/>
          <p:nvPr/>
        </p:nvSpPr>
        <p:spPr>
          <a:xfrm>
            <a:off x="9464040" y="5257800"/>
            <a:ext cx="1325880" cy="365760"/>
          </a:xfrm>
          <a:prstGeom prst="rect">
            <a:avLst/>
          </a:prstGeom>
          <a:solidFill>
            <a:srgbClr val="EEF2FA"/>
          </a:solidFill>
          <a:ln w="6350">
            <a:solidFill>
              <a:srgbClr val="E3E9F5"/>
            </a:solidFill>
            <a:prstDash val="solid"/>
          </a:ln>
        </p:spPr>
      </p:sp>
      <p:sp>
        <p:nvSpPr>
          <p:cNvPr id="138" name="Text 135"/>
          <p:cNvSpPr txBox="1"/>
          <p:nvPr/>
        </p:nvSpPr>
        <p:spPr>
          <a:xfrm>
            <a:off x="9464040" y="5257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39" name="Text 136"/>
          <p:cNvSpPr txBox="1"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“Full” = create, edit, review, approve/reject, delete.  “Own” = limited to records the user created, or their assigned region.</a:t>
            </a:r>
            <a:endParaRPr lang="en-US" sz="1100" dirty="0"/>
          </a:p>
        </p:txBody>
      </p:sp>
      <p:sp>
        <p:nvSpPr>
          <p:cNvPr id="140" name="Text 13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141" name="Text 138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 Test Scenarios (1 of 2)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9692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Ready-to-run scenarios covering the core flows — each uses the test accounts from Section 2.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69164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1837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C2A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4672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61872" y="1819656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publish a form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2221992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Manager or Analyst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2478024"/>
            <a:ext cx="3099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a manager, create a form, add fields, configure access &amp; consent in Settings, then Publish.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4325112" y="169164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9704" y="1837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C2A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489704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946904" y="1819656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 review a response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526280" y="2221992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Field Officer → Manager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526280" y="2478024"/>
            <a:ext cx="3099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field officer, submit a response to a published form; as a manager, review it and check the Report tab.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8010144" y="169164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74736" y="1837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C2A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174736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631936" y="1819656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visit approval chain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211312" y="2221992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Field Officer → Manager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211312" y="2478024"/>
            <a:ext cx="3099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field officer, create &amp; submit a visit; as a manager, review and Approve/Reject; field officer checks the outcome email.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640080" y="384048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4672" y="39867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C2A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04672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261872" y="3968496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with sentiment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841248" y="4370832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Field Officer → Manager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1248" y="4626864"/>
            <a:ext cx="3099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field officer, log an interview with satisfaction score 2, confirm sentiment = Negative, submit for approval.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4325112" y="384048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89704" y="39867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C2A8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489704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4946904" y="3968496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validation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4526280" y="4370832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Field Officer → Manager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526280" y="4626864"/>
            <a:ext cx="3099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field officer, upload a photo linked to a visit; as tsegaye.n, open and Validate it.</a:t>
            </a:r>
            <a:endParaRPr lang="en-US" sz="108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 Test Scenarios (2 of 2)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9692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— scenarios F through I.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1837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C2A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4672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61872" y="1819656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sales entry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2221992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Field Officer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2478024"/>
            <a:ext cx="4992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field1, select business group/customer/product, confirm unit price auto-fills, save, confirm summary stats update.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21792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82512" y="1837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C2A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82512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839712" y="1819656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price alert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19088" y="2221992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Field Officer → Mgr/Analyst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419088" y="2478024"/>
            <a:ext cx="4992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field1, record a competitor price well below Kerchanshe's; confirm an Active alert (≥15% gap) fires; resolve it as tsegaye.n/analyst1.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640080" y="3840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4672" y="39867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C2A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04672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61872" y="3968496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performance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41248" y="4370832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Field Officer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41248" y="4626864"/>
            <a:ext cx="4992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field1, open My Performance — review the score ring and activity summary; check My Plans and My Results.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6217920" y="3840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82512" y="39867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C2A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382512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839712" y="3968496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configuration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419088" y="4370832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Administrator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4626864"/>
            <a:ext cx="4992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admin, change a user's role &amp; region, add a notification rule &amp; report schedule, confirm master data pages support create/edit, trigger a D365FO sync.</a:t>
            </a:r>
            <a:endParaRPr lang="en-US" sz="108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kgmis/icons/t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67" y="574947"/>
            <a:ext cx="331435" cy="3314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02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  </a:t>
            </a: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&amp; Troubleshooting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pic>
        <p:nvPicPr>
          <p:cNvPr id="6" name="Image 1" descr="/home/claude/kgmis/icons/ste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43560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9264" y="14173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Tips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82880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the Dashboard's Quick Capture tiles to jump to any module.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list page has filter dropdowns to narrow results.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Visit reports, interviews &amp; form responses can be saved as drafts.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bell icon shows your unread notification count.</a:t>
            </a:r>
            <a:endParaRPr lang="en-US" sz="1300" dirty="0"/>
          </a:p>
        </p:txBody>
      </p:sp>
      <p:pic>
        <p:nvPicPr>
          <p:cNvPr id="9" name="Image 2" descr="/home/claude/kgmis/icons/ver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1304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69264" y="37947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Requirements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640080" y="42062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Modern browsers: Chrome, Firefox, Edge, Safari.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JavaScript must be enabled.</a:t>
            </a:r>
            <a:endParaRPr lang="en-US" sz="130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Power BI panels render best in Edge or Chrome.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309360" y="141732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53796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195681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permission" error: 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doesn't have access — see Section 15, or contact your Administrator.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6537960" y="267004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out unexpectedly: 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timed out from inactivity — log in again.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537960" y="338328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isn't showing: 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Field Officer, confirm it belongs to your assigned region.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537960" y="409651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won't submit: 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required field is filled in.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480974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find product/customer/outlet: 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Administrator to add it as master data.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537960" y="552297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 received: 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Notifications for delivery status — in UAT, email is simulated and won't reach a real inbox.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 |  User Acceptance Testing Guide  ·  v1.0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57200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822960"/>
            <a:ext cx="914400" cy="9144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" name="Image 0" descr="/home/claude/kgmis/icons/su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190" y="1012874"/>
            <a:ext cx="534572" cy="5345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196596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Help?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0" y="26517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System Administrator or the UAT coordinator for: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19556" y="338328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02436" y="33832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account issues (creation, password reset, role or region changes)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94276" y="338328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77156" y="33832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 master data corrections needed to complete a test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68996" y="338328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51876" y="33832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looks like a defect rather than expected UAT behavior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KG-MIS — Kerchanshe Group Marketing Intelligence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3361</Words>
  <Application>Microsoft Office PowerPoint</Application>
  <PresentationFormat>Widescreen</PresentationFormat>
  <Paragraphs>483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Woluman Urgesa</cp:lastModifiedBy>
  <cp:revision>6</cp:revision>
  <dcterms:created xsi:type="dcterms:W3CDTF">2026-09-18T00:21:15Z</dcterms:created>
  <dcterms:modified xsi:type="dcterms:W3CDTF">2026-09-18T14:20:38Z</dcterms:modified>
</cp:coreProperties>
</file>